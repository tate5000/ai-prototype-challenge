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40">
                <a:solidFill>
                  <a:srgbClr val="E4C489"/>
                </a:solidFill>
                <a:latin typeface="Consolas"/>
              </a:rPr>
              <a:t>AI PROTOTYPE CHALLENGE ·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 spc="140">
                <a:solidFill>
                  <a:srgbClr val="D9D2C1"/>
                </a:solidFill>
                <a:latin typeface="Consolas"/>
              </a:rPr>
              <a:t>PERFICIENT AI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118585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F3EFE6"/>
                </a:solidFill>
                <a:latin typeface="Georgia"/>
              </a:rPr>
              <a:t>Advisor Stock Briefing — </a:t>
            </a:r>
            <a:r>
              <a:rPr sz="3200" b="0" i="0">
                <a:solidFill>
                  <a:srgbClr val="E4C489"/>
                </a:solidFill>
                <a:latin typeface="Georgia"/>
              </a:rPr>
              <a:t>research an advisor can trust, in 60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 i="0">
                <a:solidFill>
                  <a:srgbClr val="D9D2C1"/>
                </a:solidFill>
                <a:latin typeface="Calibri"/>
              </a:rPr>
              <a:t>Before every client call, advisors lose 20–30 minutes pulling a quote and skimming a dense 10-K or 10-Q. That doesn't scale across a book of hundreds of names — and it's time not spent with the client.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108960"/>
            <a:ext cx="2011680" cy="15240"/>
          </a:xfrm>
          <a:prstGeom prst="rect">
            <a:avLst/>
          </a:prstGeom>
          <a:solidFill>
            <a:srgbClr val="2A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218688"/>
            <a:ext cx="20116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 spc="100">
                <a:solidFill>
                  <a:srgbClr val="4F8F6D"/>
                </a:solidFill>
                <a:latin typeface="Consolas"/>
              </a:rPr>
              <a:t>PROBLEM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50" b="1" i="0">
                <a:solidFill>
                  <a:srgbClr val="F3EFE6"/>
                </a:solidFill>
                <a:latin typeface="Calibri"/>
              </a:rPr>
              <a:t>Manual, per-ticker research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050" b="0" i="0">
                <a:solidFill>
                  <a:srgbClr val="D9D2C1"/>
                </a:solidFill>
                <a:latin typeface="Calibri"/>
              </a:rPr>
              <a:t>Quote here, filing there, 20+ minutes of reading before you're ready to talk.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3108960"/>
            <a:ext cx="2011680" cy="15240"/>
          </a:xfrm>
          <a:prstGeom prst="rect">
            <a:avLst/>
          </a:prstGeom>
          <a:solidFill>
            <a:srgbClr val="2A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3218688"/>
            <a:ext cx="20116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 spc="100">
                <a:solidFill>
                  <a:srgbClr val="4F8F6D"/>
                </a:solidFill>
                <a:latin typeface="Consolas"/>
              </a:rPr>
              <a:t>SOLUTION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50" b="1" i="0">
                <a:solidFill>
                  <a:srgbClr val="F3EFE6"/>
                </a:solidFill>
                <a:latin typeface="Calibri"/>
              </a:rPr>
              <a:t>An agent that reads the filing for you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050" b="0" i="0">
                <a:solidFill>
                  <a:srgbClr val="D9D2C1"/>
                </a:solidFill>
                <a:latin typeface="Calibri"/>
              </a:rPr>
              <a:t>Type a ticker. The agent decides what to check — quote, then the right SEC filing — and writes the briefing.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3108960"/>
            <a:ext cx="2011680" cy="15240"/>
          </a:xfrm>
          <a:prstGeom prst="rect">
            <a:avLst/>
          </a:prstGeom>
          <a:solidFill>
            <a:srgbClr val="2A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3218688"/>
            <a:ext cx="20116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1" i="0" spc="100">
                <a:solidFill>
                  <a:srgbClr val="4F8F6D"/>
                </a:solidFill>
                <a:latin typeface="Consolas"/>
              </a:rPr>
              <a:t>TRUST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250" b="1" i="0">
                <a:solidFill>
                  <a:srgbClr val="F3EFE6"/>
                </a:solidFill>
                <a:latin typeface="Calibri"/>
              </a:rPr>
              <a:t>Grounded, not guessed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050" b="0" i="0">
                <a:solidFill>
                  <a:srgbClr val="D9D2C1"/>
                </a:solidFill>
                <a:latin typeface="Calibri"/>
              </a:rPr>
              <a:t>Every line traces to a real EDGAR filing. Tool calls are logged — advisors and compliance can see what it read.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057400"/>
            <a:ext cx="4465015" cy="1828800"/>
          </a:xfrm>
          <a:prstGeom prst="roundRect">
            <a:avLst/>
          </a:prstGeom>
          <a:solidFill>
            <a:srgbClr val="162438"/>
          </a:solidFill>
          <a:ln w="9525">
            <a:solidFill>
              <a:srgbClr val="2A3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82880" bIns="182880"/>
          <a:lstStyle/>
          <a:p>
            <a:pPr algn="l"/>
            <a:r>
              <a:rPr sz="1800" b="0" i="0">
                <a:solidFill>
                  <a:srgbClr val="D9D2C1"/>
                </a:solidFill>
                <a:latin typeface="Consolas"/>
              </a:rPr>
              <a:t>20–30 min  </a:t>
            </a:r>
            <a:r>
              <a:rPr sz="1500" b="0" i="0">
                <a:solidFill>
                  <a:srgbClr val="D9D2C1"/>
                </a:solidFill>
                <a:latin typeface="Consolas"/>
              </a:rPr>
              <a:t> →  </a:t>
            </a:r>
            <a:r>
              <a:rPr sz="3000" b="1" i="0">
                <a:solidFill>
                  <a:srgbClr val="E4C489"/>
                </a:solidFill>
                <a:latin typeface="Consolas"/>
              </a:rPr>
              <a:t>&lt;60 sec</a:t>
            </a:r>
          </a:p>
          <a:p>
            <a:pPr>
              <a:spcBef>
                <a:spcPts val="800"/>
              </a:spcBef>
            </a:pPr>
            <a:r>
              <a:rPr sz="1050" b="0" i="0" spc="60">
                <a:solidFill>
                  <a:srgbClr val="D9D2C1"/>
                </a:solidFill>
                <a:latin typeface="Calibri"/>
              </a:rPr>
              <a:t>PER-TICKER PREP TIME, ONE AGENT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989320"/>
            <a:ext cx="11185855" cy="15240"/>
          </a:xfrm>
          <a:prstGeom prst="rect">
            <a:avLst/>
          </a:prstGeom>
          <a:solidFill>
            <a:srgbClr val="2A3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172200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9D2C1"/>
                </a:solidFill>
                <a:latin typeface="Calibri"/>
              </a:rPr>
              <a:t>Built to extend to more research beyond a single ticker — same approach, more coverage.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